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3" r:id="rId3"/>
    <p:sldId id="272" r:id="rId4"/>
    <p:sldId id="280" r:id="rId5"/>
    <p:sldId id="287" r:id="rId6"/>
    <p:sldId id="276" r:id="rId7"/>
    <p:sldId id="278" r:id="rId8"/>
    <p:sldId id="277" r:id="rId9"/>
    <p:sldId id="279" r:id="rId10"/>
    <p:sldId id="288" r:id="rId11"/>
    <p:sldId id="289" r:id="rId12"/>
    <p:sldId id="275" r:id="rId13"/>
    <p:sldId id="290" r:id="rId14"/>
  </p:sldIdLst>
  <p:sldSz cx="12192000" cy="6858000"/>
  <p:notesSz cx="6858000" cy="9144000"/>
  <p:defaultTextStyle>
    <a:defPPr>
      <a:defRPr lang="en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61"/>
  </p:normalViewPr>
  <p:slideViewPr>
    <p:cSldViewPr snapToGrid="0">
      <p:cViewPr varScale="1">
        <p:scale>
          <a:sx n="114" d="100"/>
          <a:sy n="114" d="100"/>
        </p:scale>
        <p:origin x="66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E7AE21-942D-6FDB-13C3-30737F4600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195D295-AF14-D11A-5647-7611E30305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2E20FC-420E-4AB1-BEB1-BDD7D141D0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4EF5F5-B9D4-DD70-B987-B4A0A07884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A18445-E060-CEC9-1222-D4C64116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278051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58905C-5D6B-CB11-A8B9-DF7283F1AB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59E805-307E-9837-9F0D-B241DCDE7D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734EC4-F5F0-0E7E-376D-CF2309372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D638D-F69C-56F3-D74B-42CA359586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ED25A4-0C3E-CF60-5C6A-72970C9EAA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5438157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98D5DF-10EA-A2D0-1BDE-3BC2F1203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37C068-2695-D4BA-91BF-FA04D0A349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17D5AF-E37C-F2D6-AE35-435474C7C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8FA556-9529-5DA2-EF7F-8CD397B90E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59724C-064A-DF5D-A8D1-E3458ECB93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385358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32310B-E8CE-CA8E-6F4D-2B9FB4FAB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F8AD68-930B-BD78-2C19-BE10DEEF4F2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21F660D-3F00-B3EA-529D-4426B4B252D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F9749B-CA2B-2113-3AF5-3D57B8674F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1AE6CD3-26A0-6412-373E-C4843A0E62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062DDD-14E4-6603-3399-D4292B3DA4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275725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54122-9F70-5EE8-BD71-D2985B4D2D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C1697D-2442-0668-961E-5391DBC07C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5C57F0A-F824-0B76-3CA6-84CDE98E7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145B2C-2DA1-2C6E-1B14-B8FE95EAF0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81A7306-D6EA-2A65-0AC8-F158811C55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B9E5484-7C8F-ABC0-C5C7-090066712A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3759253-3732-6990-AADE-3748ADC253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C4B27CE-8C74-3BBF-C633-55A62B552D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5013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849C7F-10D1-3651-0CCF-8F874FBD94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20F188-5043-F7F0-CF5F-2A5FE0FD63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AC72BCE-0ADC-5EEB-CE95-7F1AD0D4B0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80ABB35-8F05-CC2C-EE8F-552A288208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7430800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EDDD9A0-3F4D-02AE-772F-EE60E52CC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0978AC4-D2CE-07E7-E5F7-C1457DDFFA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0BE658-5F4E-15E7-1FA4-0AB09F66B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4535549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3039E5-AC51-F894-90B4-059D1F5B9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E78F88-CC4E-9293-93CC-88DB5E126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5F80857-8C06-C38D-C2E0-32365A72FE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5D3E16-98DB-D3F2-4C39-3AFD450170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611E32-6C18-237C-D129-12BA0B0E35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AD3ACD-1DB5-E72C-9E93-63D549C29E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457422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48CD81-976F-B80F-7A17-97A1BD931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5057A6-BFD6-D26A-C248-10B6730E20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MX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DBE3F6-A188-37AE-842E-4CB4E4E69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2FC6DA-A229-0DD2-949C-64B808A4D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BB6EA2-5C22-D102-7799-B6289EC1D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8FEB2C-A30C-8BC6-CAFB-8207547432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24735902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0E571-F49C-1DA4-937E-3BD792E8C3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7860EF-C620-3954-BED6-3D521CB3E3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85B3C-469D-2918-977C-14A09FED58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4BBBA-9EAE-85B9-EDB0-2393FF3619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2159AE-2022-6B87-B0FF-D3E35D714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637354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2621B88-C220-3599-F09F-784D5AFD1F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D43AAA-855C-A038-A705-B142708EA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DFC7A4-68E6-A2FB-3F99-55E495420D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0C37C2-1724-E8E6-1D77-F0B509787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83D0A3-8C42-7D43-F52E-1E0DA176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308503890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009DF1-F619-AC35-EA24-7061B49A0A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MX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AD841E-8B7D-3690-34B1-70469758E7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MX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1031D2-7085-2B30-906B-29F92668F2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8BD3E3-FC28-C94A-92F8-A1A4DA5A5098}" type="datetimeFigureOut">
              <a:rPr lang="en-MX" smtClean="0"/>
              <a:t>11/05/26</a:t>
            </a:fld>
            <a:endParaRPr lang="en-MX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AAC57F-71F2-9BC2-4125-0A7886AC71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MX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326279-13E3-2870-0D17-849A9FCAD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BABF99-D4A2-244F-8172-8780595637DA}" type="slidenum">
              <a:rPr lang="en-MX" smtClean="0"/>
              <a:t>‹#›</a:t>
            </a:fld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44191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gif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2EEBD8-5FDB-9AB8-61C3-01EA0EB523B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MX"/>
              <a:t>VPN-Extra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119C28E-073C-EDEB-54A0-691B3FA0D6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X"/>
          </a:p>
        </p:txBody>
      </p:sp>
    </p:spTree>
    <p:extLst>
      <p:ext uri="{BB962C8B-B14F-4D97-AF65-F5344CB8AC3E}">
        <p14:creationId xmlns:p14="http://schemas.microsoft.com/office/powerpoint/2010/main" val="10107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Redes virtuales privadas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s-ES" dirty="0"/>
              <a:t>Montan un túnel entre dos dispositivos donde todo el trafico que va entre estos está cifrado.</a:t>
            </a:r>
          </a:p>
          <a:p>
            <a:r>
              <a:rPr lang="es-ES" dirty="0"/>
              <a:t>El túnel puede pasar por internet.</a:t>
            </a:r>
          </a:p>
          <a:p>
            <a:endParaRPr lang="es-ES" dirty="0"/>
          </a:p>
          <a:p>
            <a:r>
              <a:rPr lang="es-ES" dirty="0"/>
              <a:t>Existen dos modos generales de funcionamiento:</a:t>
            </a:r>
          </a:p>
          <a:p>
            <a:pPr lvl="1"/>
            <a:r>
              <a:rPr lang="es-ES" dirty="0"/>
              <a:t>Site-to-Site</a:t>
            </a:r>
          </a:p>
          <a:p>
            <a:pPr lvl="1"/>
            <a:r>
              <a:rPr lang="es-ES" dirty="0"/>
              <a:t>Remote access</a:t>
            </a:r>
          </a:p>
        </p:txBody>
      </p:sp>
      <p:pic>
        <p:nvPicPr>
          <p:cNvPr id="7" name="Marcador de contenido 5" descr="&lt;strong&gt;Router&lt;/strong&gt; – Wikipedia"/>
          <p:cNvPicPr>
            <a:picLocks noGrp="1" noChangeAspect="1"/>
          </p:cNvPicPr>
          <p:nvPr>
            <p:ph sz="half" idx="2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9786400" y="2264735"/>
            <a:ext cx="1170415" cy="792244"/>
          </a:xfrm>
        </p:spPr>
      </p:pic>
      <p:pic>
        <p:nvPicPr>
          <p:cNvPr id="8" name="Marcador de contenido 5" descr="&lt;strong&gt;Router&lt;/strong&gt; – Wikipedi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6578912" y="2264734"/>
            <a:ext cx="1170415" cy="792244"/>
          </a:xfrm>
          <a:prstGeom prst="rect">
            <a:avLst/>
          </a:prstGeom>
        </p:spPr>
      </p:pic>
      <p:pic>
        <p:nvPicPr>
          <p:cNvPr id="9" name="Marcador de contenido 5" descr="&lt;strong&gt;Router&lt;/strong&gt; – Wikipedia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9985265" y="4811192"/>
            <a:ext cx="1170415" cy="792244"/>
          </a:xfrm>
          <a:prstGeom prst="rect">
            <a:avLst/>
          </a:prstGeom>
        </p:spPr>
      </p:pic>
      <p:pic>
        <p:nvPicPr>
          <p:cNvPr id="10" name="Imagen 9" descr="Computers Keys Rays Personal · Free image on Pixabay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9414" y="4550632"/>
            <a:ext cx="1757950" cy="1318462"/>
          </a:xfrm>
          <a:prstGeom prst="rect">
            <a:avLst/>
          </a:prstGeom>
        </p:spPr>
      </p:pic>
      <p:sp>
        <p:nvSpPr>
          <p:cNvPr id="11" name="Nube 10"/>
          <p:cNvSpPr/>
          <p:nvPr/>
        </p:nvSpPr>
        <p:spPr>
          <a:xfrm>
            <a:off x="8176438" y="2456121"/>
            <a:ext cx="1212111" cy="49453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Nube 11"/>
          <p:cNvSpPr/>
          <p:nvPr/>
        </p:nvSpPr>
        <p:spPr>
          <a:xfrm>
            <a:off x="8370258" y="4960048"/>
            <a:ext cx="1212111" cy="494531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Conector angular 14"/>
          <p:cNvCxnSpPr>
            <a:stCxn id="8" idx="1"/>
            <a:endCxn id="7" idx="3"/>
          </p:cNvCxnSpPr>
          <p:nvPr/>
        </p:nvCxnSpPr>
        <p:spPr>
          <a:xfrm>
            <a:off x="7749327" y="2660856"/>
            <a:ext cx="2037073" cy="1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angular 16"/>
          <p:cNvCxnSpPr>
            <a:stCxn id="10" idx="3"/>
            <a:endCxn id="9" idx="3"/>
          </p:cNvCxnSpPr>
          <p:nvPr/>
        </p:nvCxnSpPr>
        <p:spPr>
          <a:xfrm flipV="1">
            <a:off x="7967364" y="5207314"/>
            <a:ext cx="2017901" cy="2549"/>
          </a:xfrm>
          <a:prstGeom prst="bentConnector3">
            <a:avLst/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963610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Cifrado/Túnel de enlace</a:t>
            </a:r>
            <a:endParaRPr lang="en-US" dirty="0"/>
          </a:p>
        </p:txBody>
      </p:sp>
      <p:graphicFrame>
        <p:nvGraphicFramePr>
          <p:cNvPr id="13" name="Marcador de contenido 12"/>
          <p:cNvGraphicFramePr>
            <a:graphicFrameLocks noGrp="1"/>
          </p:cNvGraphicFramePr>
          <p:nvPr>
            <p:ph idx="1"/>
          </p:nvPr>
        </p:nvGraphicFramePr>
        <p:xfrm>
          <a:off x="4485800" y="2671955"/>
          <a:ext cx="2712345" cy="1828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712345">
                  <a:extLst>
                    <a:ext uri="{9D8B030D-6E8A-4147-A177-3AD203B41FA5}">
                      <a16:colId xmlns:a16="http://schemas.microsoft.com/office/drawing/2014/main" val="394526485"/>
                    </a:ext>
                  </a:extLst>
                </a:gridCol>
              </a:tblGrid>
              <a:tr h="216769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Enlace, Red, …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8092468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s-ES" dirty="0"/>
                        <a:t>Transporte</a:t>
                      </a:r>
                      <a:endParaRPr lang="en-US" dirty="0"/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35877933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s-419" dirty="0"/>
                        <a:t>Red</a:t>
                      </a:r>
                      <a:endParaRPr lang="en-US" dirty="0"/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4072783371"/>
                  </a:ext>
                </a:extLst>
              </a:tr>
              <a:tr h="284599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Enlace 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3686656119"/>
                  </a:ext>
                </a:extLst>
              </a:tr>
              <a:tr h="284599"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Física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3587668112"/>
                  </a:ext>
                </a:extLst>
              </a:tr>
            </a:tbl>
          </a:graphicData>
        </a:graphic>
      </p:graphicFrame>
      <p:graphicFrame>
        <p:nvGraphicFramePr>
          <p:cNvPr id="10" name="Marcador de contenido 9"/>
          <p:cNvGraphicFramePr>
            <a:graphicFrameLocks noGrp="1"/>
          </p:cNvGraphicFramePr>
          <p:nvPr>
            <p:ph sz="half" idx="4294967295"/>
          </p:nvPr>
        </p:nvGraphicFramePr>
        <p:xfrm>
          <a:off x="0" y="2901950"/>
          <a:ext cx="18200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099">
                  <a:extLst>
                    <a:ext uri="{9D8B030D-6E8A-4147-A177-3AD203B41FA5}">
                      <a16:colId xmlns:a16="http://schemas.microsoft.com/office/drawing/2014/main" val="2483543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Usuario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2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Aplicación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3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Presentación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3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Sesión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487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Transporte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2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Red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44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Enlace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98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Física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07552"/>
                  </a:ext>
                </a:extLst>
              </a:tr>
            </a:tbl>
          </a:graphicData>
        </a:graphic>
      </p:graphicFrame>
      <p:graphicFrame>
        <p:nvGraphicFramePr>
          <p:cNvPr id="12" name="Marcador de contenido 9"/>
          <p:cNvGraphicFramePr>
            <a:graphicFrameLocks/>
          </p:cNvGraphicFramePr>
          <p:nvPr/>
        </p:nvGraphicFramePr>
        <p:xfrm>
          <a:off x="10058136" y="2902374"/>
          <a:ext cx="1820099" cy="3034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099">
                  <a:extLst>
                    <a:ext uri="{9D8B030D-6E8A-4147-A177-3AD203B41FA5}">
                      <a16:colId xmlns:a16="http://schemas.microsoft.com/office/drawing/2014/main" val="2483543813"/>
                    </a:ext>
                  </a:extLst>
                </a:gridCol>
              </a:tblGrid>
              <a:tr h="252108">
                <a:tc>
                  <a:txBody>
                    <a:bodyPr/>
                    <a:lstStyle/>
                    <a:p>
                      <a:r>
                        <a:rPr lang="es-ES" dirty="0"/>
                        <a:t>Usuario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2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Aplicación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3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Presentación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3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Sesión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487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Transporte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2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Red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44846"/>
                  </a:ext>
                </a:extLst>
              </a:tr>
              <a:tr h="443579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Enlace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98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Física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07552"/>
                  </a:ext>
                </a:extLst>
              </a:tr>
            </a:tbl>
          </a:graphicData>
        </a:graphic>
      </p:graphicFrame>
      <p:cxnSp>
        <p:nvCxnSpPr>
          <p:cNvPr id="16" name="Conector recto de flecha 15"/>
          <p:cNvCxnSpPr>
            <a:cxnSpLocks/>
          </p:cNvCxnSpPr>
          <p:nvPr/>
        </p:nvCxnSpPr>
        <p:spPr>
          <a:xfrm>
            <a:off x="1820099" y="5596161"/>
            <a:ext cx="658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>
            <a:cxnSpLocks/>
            <a:endCxn id="4" idx="2"/>
          </p:cNvCxnSpPr>
          <p:nvPr/>
        </p:nvCxnSpPr>
        <p:spPr>
          <a:xfrm>
            <a:off x="3640198" y="5586652"/>
            <a:ext cx="916379" cy="53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Marcador de contenido 5" descr="&lt;strong&gt;Router&lt;/strong&gt; – Wikipedia">
            <a:extLst>
              <a:ext uri="{FF2B5EF4-FFF2-40B4-BE49-F238E27FC236}">
                <a16:creationId xmlns:a16="http://schemas.microsoft.com/office/drawing/2014/main" id="{33CA6A96-8E1C-4948-BD36-38EFBCA675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2469783" y="5200039"/>
            <a:ext cx="1170415" cy="792244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11569957-C99D-4334-858D-198FEB1264F9}"/>
              </a:ext>
            </a:extLst>
          </p:cNvPr>
          <p:cNvSpPr/>
          <p:nvPr/>
        </p:nvSpPr>
        <p:spPr>
          <a:xfrm>
            <a:off x="4547947" y="5164026"/>
            <a:ext cx="2782339" cy="95159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Conector recto de flecha 17">
            <a:extLst>
              <a:ext uri="{FF2B5EF4-FFF2-40B4-BE49-F238E27FC236}">
                <a16:creationId xmlns:a16="http://schemas.microsoft.com/office/drawing/2014/main" id="{59E63353-C2E8-4A82-AC60-7EBE4B56696B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6733695" y="5639823"/>
            <a:ext cx="1753054" cy="34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Marcador de contenido 5" descr="&lt;strong&gt;Router&lt;/strong&gt; – Wikipedia">
            <a:extLst>
              <a:ext uri="{FF2B5EF4-FFF2-40B4-BE49-F238E27FC236}">
                <a16:creationId xmlns:a16="http://schemas.microsoft.com/office/drawing/2014/main" id="{75955A2B-B01C-4ABF-96C3-B62CA5D24D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8486749" y="5243701"/>
            <a:ext cx="1170415" cy="792244"/>
          </a:xfrm>
          <a:prstGeom prst="rect">
            <a:avLst/>
          </a:prstGeom>
        </p:spPr>
      </p:pic>
      <p:cxnSp>
        <p:nvCxnSpPr>
          <p:cNvPr id="20" name="Conector recto de flecha 17">
            <a:extLst>
              <a:ext uri="{FF2B5EF4-FFF2-40B4-BE49-F238E27FC236}">
                <a16:creationId xmlns:a16="http://schemas.microsoft.com/office/drawing/2014/main" id="{605FB12C-9C64-4B7C-A8A1-8233DD2A0D11}"/>
              </a:ext>
            </a:extLst>
          </p:cNvPr>
          <p:cNvCxnSpPr>
            <a:cxnSpLocks/>
            <a:stCxn id="19" idx="1"/>
          </p:cNvCxnSpPr>
          <p:nvPr/>
        </p:nvCxnSpPr>
        <p:spPr>
          <a:xfrm flipV="1">
            <a:off x="9657164" y="5613238"/>
            <a:ext cx="400970" cy="26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ylinder 23">
            <a:extLst>
              <a:ext uri="{FF2B5EF4-FFF2-40B4-BE49-F238E27FC236}">
                <a16:creationId xmlns:a16="http://schemas.microsoft.com/office/drawing/2014/main" id="{7547A0B4-3928-43D8-AF3E-8CC54EE85D93}"/>
              </a:ext>
            </a:extLst>
          </p:cNvPr>
          <p:cNvSpPr/>
          <p:nvPr/>
        </p:nvSpPr>
        <p:spPr>
          <a:xfrm rot="5400000">
            <a:off x="5791657" y="4252500"/>
            <a:ext cx="355777" cy="2721479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Imagen 9" descr="Computers Keys Rays Personal · Free image on Pixabay">
            <a:extLst>
              <a:ext uri="{FF2B5EF4-FFF2-40B4-BE49-F238E27FC236}">
                <a16:creationId xmlns:a16="http://schemas.microsoft.com/office/drawing/2014/main" id="{39844139-C18D-4645-93AC-A939CD44A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8892"/>
            <a:ext cx="1757950" cy="1241526"/>
          </a:xfrm>
          <a:prstGeom prst="rect">
            <a:avLst/>
          </a:prstGeom>
        </p:spPr>
      </p:pic>
      <p:pic>
        <p:nvPicPr>
          <p:cNvPr id="26" name="Imagen 9" descr="Computers Keys Rays Personal · Free image on Pixabay">
            <a:extLst>
              <a:ext uri="{FF2B5EF4-FFF2-40B4-BE49-F238E27FC236}">
                <a16:creationId xmlns:a16="http://schemas.microsoft.com/office/drawing/2014/main" id="{2B96CD6F-3D06-4AEE-B7CC-F838DD1844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705" y="1710659"/>
            <a:ext cx="1757950" cy="124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34301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Protocolos de VPN capa 2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1097280" y="1773699"/>
            <a:ext cx="4937760" cy="3964492"/>
          </a:xfrm>
        </p:spPr>
        <p:txBody>
          <a:bodyPr>
            <a:normAutofit/>
          </a:bodyPr>
          <a:lstStyle/>
          <a:p>
            <a:r>
              <a:rPr lang="es-ES" dirty="0"/>
              <a:t>Point-to-point Tunneling Protocol (RC4/MS-Chap)</a:t>
            </a:r>
          </a:p>
          <a:p>
            <a:r>
              <a:rPr lang="es-ES" dirty="0"/>
              <a:t>Layer 2 Tunneling protocol (Sin cifrado, establece túnel, Usa PAP/CHAP)</a:t>
            </a:r>
          </a:p>
          <a:p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0677" y="1590434"/>
            <a:ext cx="4937125" cy="1527371"/>
          </a:xfrm>
        </p:spPr>
      </p:pic>
      <p:sp>
        <p:nvSpPr>
          <p:cNvPr id="6" name="AutoShape 2" descr="data:image/png;base64,iVBORw0KGgoAAAANSUhEUgAAAaMAAAB4CAMAAABoxW2eAAAAwFBMVEX+/v7////d5vL7+/sAAADh6vZsbGv4+Pje5/LDw8PU0tJPT05SUU+psLl5eHfe3t7x8fFhYWC3wMm7urk+PTuTkpFaWVinp6Z/f3/KysklJSQiIB5JS06jqbKhoaBpZ2Wurq7T3OgPDgyVlZTm5uaDiI7FzddFREPi4uKHh4akpKPN1uG1tLR6foQ1NTTAyNKLkZhtcXaWnKMuLStobHBcX2M/QEKxuMBUVlo3ODoYFhScoap+gokMCADq9P9FR0pQBSnAAAAXxklEQVR4nO2djWKiOBCAjQSQKBBFQGylIFFB8L+ttna37/9Wl6C2CKiwu3ftuc7dUoEkhHzMZDIEqFQuCfhYnNn/naRQhQG4nOTX958RDny7BvumAjjuq47s2N/vsv6WAhT0RQ0FdOXGqIgAMJW+ipF3Y1RIAHi5MfruAkY3Rt9cwI3Rt5cvYbQ7ILAF7saoiJxhBGK5WEDpdgY4HhrdGBWUDz3KaWqCVBXhE834sRmpZRsa2IFP898YFRQA6pQRBaT6mfaS+qbkaDtlAmkh4n57Z5zJmEmcEh12OwTcGBUVxghwKOhq6fYC/ooAjLFPVABUxIm+qvoYE0xUFSA69PUtEWAUmJmMIs4Vbi8VHUI41dUbo2ICQEMCqvIKoZS53P2VhbzKuOm1faTZOqoHQdMnkte0RxKi2yIzwB1kpBkB4I3qJ6VBZdrv9yG8a98YFRPQ0IM7SBut4xyLRBnZjg6kEZhqNsEIj7DYkYhoCtRr9kdYkKxgPAZ6Vo9UKVe0gwiQImrbnRujQgKAMeozRP1R80iMgGO2TuSsBmhrtPsQSR0DyVArjgI0xa+TBhJxEAEvw+hif+RBuPIwMB9ujIoItXUaEiD8AVl/RPsK7rAAAL1aRJW0EbeKvA6y/TYGuK4BU+C8sd/2O4rqOCPSsct630C/83yKanzTo2ICDA1wEu2QtNTFTr1qz4zGSLKJLREKBLGGdQgwDc3EYhCRQEBY122nbEsD6q6z8dGNUTEBjBFzvZXsUPYY2W6pckDz2G+OLjiw+1f+oPHyZusKCmPEWo0TzycDiV/s9/7fb9xLBU7zxqiQ7Bj9VmP/6pFvjIoJODD6gkPfGBUTAJo3Rt9dwMOXMTKN0oyKWGRwcqXoQXKznrw78EvFg8QKSG3NxATKMMpkLpTqZGkEHaVNNU3WzaxcHh1fqRD81TUoLJWK2iwtglJOhPLyrx/g4Rfy/CEpd+gHOoKzfiCrlEgr/TNOWEQko2PlhxtPidcudQSnb5Yrn0r9Tf4i6b3YJeppKTpldFdS9XA7G88/Lx2zZAbLKJUcd/2SB6D9Ue8n/zXi3qMyFR3vGBXs7fZ9GGNULkcnGyM+n0EyymQApFv2xjVjxFdrteoJObnjY3ftaO2y1A4Ja4xRiZrafzejM5BYY57ZWwhLfib+xqhonvN69NmktRNQapkfRUn9CUbMCJ7LdILRznrm5sgwimP0hwNls6UZgcNIZ3+MVI5cRnGSwyJnb6xHeW2ew6KWBZKz6VTuS4wuNHcuI1HE4plcJxiJO8k7XoYRJ4oct0/PVtKHSzFiyeOnUQCHWeVYjuRYL4/RrlSR5cyrVpbRKXGrLJ3LmLCf8V+eP6VGtfSmLKSMraOndOaZpDxGgJMMTzdFFoqnbQIycYgTjFTDRA+BbufgTTMCRFEI0dWxoeuOiB466VzHjAARFAIA6iiqpXcML1AVQfcSE+ByGAHVUHSb2IYeqJYR0MOkExRjtL4fTOTh49Ng7i43g8m6Vhs+Pg4G7t4D4MNNopjaYMJWaucZVY8ZAVFv2IEW348CIsk8uZarR8CHRF3plA9XQYFYwanpgPmMAIASWDkI5u1LMxKNJuBs4EALvTp4ZSNonWFUAYZBFUFD9SbCNiSS2DTU1+A8owr0aF2cvtpUENSk1AEK6lGND+Fw3h1unty77fY1XDy7vPu8COGcd92aG9Zct8t+8jWqY5TG231emaleL23rgA6BRpuNahM39ipcyojlM1IhqQhT1dR0zmggz3o4niZ4Qo92jLTXnP4wl5EYMwLGA5naGlTPM2qyegM6mgMepEOhpmH1nfOMOOhJfeS8WiNP7UdONkEhPaqFcDZ5DzdPs+56ezd7eqIt/Lxowd5yvZgtp648Wy3l5Xw2680Htbm82CTKPJBh7uGRZmUZVXBXUceeSaYKos1+BOk0I2UqBdJKbAacEt1FRRlNBTt31xlGzYbabtpSKkOWUUXksI4re0YUK3eJES0VmDBwsPoqjDNXTpZRXt9P9ehtPqttXuYyv+1PlkO+6r6/z+XqpHe/HML1sLp6e5bnj/Jg8DybhoOdHtU+8eRpVR6jqSAFQV0cmb4STdFlRj7E4kjBHY0y6oDA7hZn5OT2fRlGnGAAcQwiiKihw9PMDJssI9pLYkdFHKC2junRUSeb69dBj1p455USpXqUqVZBn4F34ZA6CJunnzy/vWM/KaMFXRnMN8ufkylj9CLPn1qLt+d1lzHKcwMv2DoPUrVwkNKp45GNO2b7IiPARTAIFIza0pR4TdqCbbsIIwR19KOTO5U949cBqx7YViWAiqJg64eQzpXyGfxp11OUAMI6EAV6KfjTqX+UPM9ngLRU3GHdIz2fnIh/IT2q9uC2ys+mLy5fnUCWg59176nH8D5YTH6GT9UQTpaDxXr7vnwJHyeP9252HBUPhZNRibTPIEBP6Ij2yGtjIUArrW1d1COOIKSKgPOxL4o+/UPI8dnlMyLIJ6qa67TnjI9o6grn0wNxANNc6QzHeoRVhBChCx9wKiIsBz4uLcsI03OoiPHzD+xY2Tpd1iPWrsPZkDbqbOaynyHbSldYPxW6w2E4493ZkB+GvDt0h3TPcHihyFxG7MRohX2scpiItNmPT+7kGPZYUqefb+vKjGETx8gbYqZtXaIieTnybF2i6NxaMUa1zIj0I6h22FqLjRezcTWej3+zlRrdXOMXA/aDr7LNfI3pGF/Enc/Yus9myGvv64wF7bgk9+fl2elRbq+e/Jukl07mJjy2nIJqeb3RH4rXXSjgiFE80j3mnpMjyYj9unR7PskIZArN9i1HjERCcGyfD5s4jCvpoeEhpppp0WyrnorUHbtwJyWb/Y/EVEGiXXIMUZLR7unBxN68qMYxI8DSJF4ykhdNS+oRqKQZZWqUZATEYKqilbc/CVa9qCnuA4SJPGfidbXYhjHjxu92nLBhqebf56lVd/8KMzpELfNbI9/3xpaEAe10ufj0pYzTlWAEsO2pVhB9DlY4x8xc+UlGohlYqm7iz+a3goyjkWSE6AhnrKsfhQKyWznpewPvVcQ/TNoJ0+qpGIhEGokVX8QI+5+XRprRkULw4VBuhbIsD+M07nqWry7HW911a7iW6ZhpLYeuPMzX0Zz+iEh0TAF8FK+oUuodOScY1ev0ulODuBtT2aT1k4wqQBhxBJrx/GeqHzSLXmcrXHJ6UpIRHeAgMPJ2E6ZZUBBYEMcZEq2eYERHNzbovOLYqLJIKsCriF1s4qc+pRn9sD1o4sDUrY6liAFyRjjQOwhqDx8e04nx0f4Oj7wdwoX7+rTtMkgs/BPfQA1b/F5P4lu4tc9bqztGz4vhiuaR53A7XAyPQg6JWGuGEYIBPaFIj90F81Us4DMAsdmkyaQI2dYYk74UWWcYKXWAoQM0kxBkakCSFANIDkKKpn8o4DGjvgrqNkCmJVqSzamaA7HqaFiIgo+YU5KRfzcGQRcTMwKWpWNxbHU10TGx6ZmHcVtGjyQJOtLIa1rjqG2NRKsurYKmBVX8cY3mM9pd77Xwxa3eDfjVhIdr6ra15PcJP9wO3af7NVUuviovB/J8vXRnvVk4l+ez5Touit8Mqs8T93Ve3bwMQj6nH8u9DwsIPUMgOpplaxHQVtg8clJPM6qA8Qi9SnWP9DXt2NqlGHWDDoy0ph04Hh2ETX3d8EfjBh2KaR+jnpQeKfqd7dfHDUuRoP9gUT1qmCvag2gkl9HK0EcrLNhtyZDamt3EK0kXmmZUR9oJRnci7jvSFGP0QAeEbSzVrTtJ9GEy7nhmfMT3nqsuZTTdTJ7cGi8/he9v68l26j5PZvetl9b8cfkyvHtbLJ96L+Hr5HGzfg1jD/2eMtoMNkN+Bt9Oe+E5jOjFBpSmBq22Jq2IVCBeF+sRiurqCj90yJ3ROWfrYj3SOgZRSUdvS13sGdrKQqiNPt8+lqNH0itCWB/3rTZCEHUdRFZmvq3z70wQrNSpjYhjjzRFqUwlQVGJ08y3dYAYUIqggIWmr7Wluu817YbqNSwNJp4EPxcL4if3NcZo9cgC2vzjI7+ZVOfLvvs+57fbl/V80du4q+VPdzBYhaslBQljwxYzonl4fr2A65OQcvWII8GD1cejsdRVokK2zgCq54zUO9zskL6XvnFw3B+1RdofIRgRe+R18dRU2mrXpo4VSjwWkmTk0f6o7eERTXNnQqToJlSbAoovpjxG6g/aH/Wx0kAY2nVbm0p3Y3MlYbORwHI0PmLXBnseT2SdXuWw2G1PMTqMYI7sEi9TPeoP+O4ibvnlhirQ+r4H3ffBbCW/rFvLVrV6t/wpQ/ku7MaM5IG7Y/RC8/Czrfv+Ep5yy7OMXqnp14KmBCkjbRW1yWU98gNBV6JIobYo8JCgBceO1xEjYo5Vakdp7yUSjWi0e7EsUY2waietT9Kvc2xLHdMEERFpBoIjS8PE8bGt5TKqIDuiCqTiCAEJIbqwJJ/TLE5zPh2A/DHswd3eL1IOfFKPDuPUPbLwOWw9zVuPb24caZvP59vZoDUJ5Xk4Wc9b85f3p/Xjkp8tZpPWY28+mD1t71t8dbgYrB8nIR++bavzzbIwI0vo6IplB5ogKWYkWIpzVNGCsaAzenRaEjmSelQoQ3IMeznDr88Lyh+E8rNlwl2rHpy3w5iptx72ZiwilPDr1tXqYb0ax4dOh4XyxkfnmvsqY0HF8uTM3fqIT/PuqQaO1azVSsdOy8wNus2vK5wnx2dg4bdTI89kskN09ZPO5ZDQn2MEdgHYZJJspmtgtJ+n+tHOtfOqkOiwah938SipGgsaxRFv6gDG0fBE6iKM0pYtJxiZZoQJYSHJzxQiyTzTexWMUnrkhmfm133uCd1aLQz362FIV9kydKvxP9cNwzhDnqVMaFqCEWtsQj78TVHEOP265DQj4Bs6Z44SvrbYiNJnfxWMPsdHsUas72c8u1nkJu+jZqktn2W+t2XU+LA6nE6eJtRPnzwOqoP3YXXRar0sGYL54nNwdJhw4sp5egRUozPSP+f02LbVJKkzyTDCU53NMmCjiV14GnTNeO4h9xmAuwpGCT1ibNZ3rTgwN4lRVffh7hq/U6ODL8HLL3ezmczsWvgY1mCrB4ctKK/n/KDv8pNwCLfUo5OnvSGzgR9mMb791xvwWUYVlY62VUvlODGe4omQtfJp43Pi5ysJsozaiu+9qsj0iEYHSDhAXQfrnjUWIi+R6LoY1eTtttvq9SYzGQ7k5Xxemy83b9uX3kTeLta95+VTbyHHw1l5eX/fW4eDt9bgdcnD7WRTbfXngyo/eD0wqlXf+uvB43LZkx9bg832SX5qDZeD0L0/BFmP7vEBNm2NNGxdsjUdd3Rrqjq2KRnOR7Qzh5EgBa/ICAxnrLU92wArx24oQtTG5Kr0KBEL4sOp3Oq2lr3NYH03XM/f7oev6+f5DLrD5fb9bQZbq97bI9MJvicPp6v1YPO0WE7dKpxP7sNWfzL5mWBEE63CwbsbzuXpYD79Cdf3b4vFpvfz/mBbs4zElY1VXeuqioDa5ioYSV2JcCcZMVvXRyMbY8ceeR5j5NVF7IzEJMj/P6OkHoVdymi2HDy9rV+Hrce3e/dt/kaNWI3fvm12jAaPrktbV5b59ev6beO685XLw9kayq0f8jB0l9TWvSUY3fP8fPkcM2pt3miH5fL38n7MXMtjBIhiThFjZN+pGK0+XYIMIzIKgLNCkSFhRVc81ZBGHmpHxKx/+nrXw+jgUQ8my+f103wyGb7Ly812Ey4Wy6EM3epispisV61nymiw4CmzbY1ftlrP23D9PAv788UmXHcHvafq8H6+7dVad0vaVW1fhoNNlX9aPr3N36tw/fQmb2T3YOvSjJw+AmLbBlZbqluKIo0swVOtxEv8s4xUFasqYQ9dYyzSBfXF6aLiq9erR0yT2OxtKjXqO4fUu17M54+tmUvdvGo4nIWzkC7nlOhwGPsPzMWmft2Mzeuiy9mMGsJZWKvFE73YHK/hLC4vHA5dujKkrjm/nX90f0eMWGuL7KWuhCMiXVExR3+pn9Pl8sawh5BRcnE0rr0KRiAVU+X3Hh6bSsK78ixsHaZkxZOzanzIBj38Z1ShVj2MXnehOT72A2OH8BDp202KqMURPHed53tXElGDUyG7WyzohAzD0/vKSnoG1+1Zy8J5zjLK3ujOafvs87K5uY7mVN4YlcmTnhd0ubEL7LsgufMZLlX0xugcgyITts5u/ojZJie73hgVzXLMqMgtiVNyKXm6vBujwnmOGZVo84upLhRwY1Q0y2k9+uPyZ/SonHzH9wWpJQ8QM/oi+ZX3BfXZI1glRFqZvlpGiBCUOwIaj8rV6DUqeQCEGoPWF8n6xSlT0Q5lpBqnv2RxQkbtcnLmWxmnPqFRLrlRMn1995GOL5KStY1AhSstYnkpfYhSqbHglz6N8nX6U1LpqKVqu+9AS0npDP+64FX5/ijn+1P/lTStUsnLeUPfVACZlva9v05iRl9dif9cPhn9H87972Z09AjnN5S93fqLGdEWQM3fsnk7439YgMOmP9UjACxxcTf41zICIuq8wl/wHT7ai8PsAXS2BOybifFrpOKPHp57m1+ZaqpQkETw9zKqoAcI+xD9wsBgbyABZz14gcp5gqeLvqAHGr3mVSXw2FdGs6/xO65BIfEhhIbGgYe/k5GlxF/Xg3Q0W1Y+HmQGfoNoQsVWREEHDUTqPu3gmpbop0NfmQf0qRU7J4fXkI9/0Br2H6RmmXjdlQhlhCKDQYJ2qZfD7+QwJRT4Bkca4rgDxgIwCDAQZfSAsAokx1Ed2xIjyUbIxhXLRscVsM5HUvZXQ519oxH+eBj9nYxUwEkCNSW/0x8Bv64pOhg3tZEGDHNsYMaoowdAEZBto6Zft50GajiapE6Pn+O+YGH3AQOVfXtUsLi/sj/CzGcAovQAf+cKpXokWSJVIolqiSGxx9wpI4sgEATUmlkGMTQyEhX7wUEaTuUtIiqETeY0/JX9EW7vxkdcdOpT8IWK8Q32Ug+7w14H0vBjF5xrsvsIlJGtEcbIH4mCLUQg/ZLZQuWrhhY7i8JfzOjCm7IvFyOxR9DVuAX3r+DhJKowgD0qTbAkSj7WOAupmojOf2oxX7jdK0z+aj367XISL1c60P54S3zKs/udw9wYfXu5Mfr+cmP0/eXG6PvLjdH3l7+U0cuN0TeXeD7DV1eiuFzLvYlyo1EO/U584b8WkP+m+v+bAOSUS//vVONfkv9XbU8JcBpX/N3165iOBaLy313/3wj4X1nmk3LdjJolnzv5nnLdjIQbo5OFJp+4j///+GrDb0ayS9bjWhg1/rx/ylXirzMc31oA8Y7Kf+lsXQsj7c8zEjXdYndWNU8Fjm3rpq3anoMoMGLbpuf8Z+12NYzq4tGttj9RJpr67Dar47WJjvS2bxIlsJpsmxL4ln6YlHVQtN+7qZtbg71pvSpGABDrV25K55epjtj73QgArxahAzAgVjom6LDvCNC/WPSRhVHkV1TV8okmAqKlX8n4uxWQpN03fq6IESU0btf/mM2jjNhLMUEFsy8CO3VafkdXDWbsOoLpYf0hshVLwM3AHkmGQ5wd0wuF7j2P7CzJz12HBdCh4WD691oYNThKaARhgys/YS7ZWIkyGSMGKWJYKCPKRhmzL9OCToA00e4AIll13BwTKHq6YyM99yt/p8q/fFI6m0sc4ethRLwphP0fU9NJijkuI0dfKY9tHUeAxebg7RmZcTPH7yYAdgC0MTHEBxP/4DzPMysiTldLDVLSKSN1NpcYjqJrYWSgOmQzuO+aRyKUko6YdLK1boRMTXqwdYvanSkG1KzFLjf9S0djgUD1Smqjuq5CP1DQyvMy7whWg06CD/1PLyGewWY7w6Z1LYwaHDbb1DY00tdyuXISP0VpbNu2r9EFAWJkqhXfiVjpwHccXMGaI6KOZFqOpI6R5nCRkr3N81t2F3ixreOux9bRfh1HBox9h1+VVKHJHSDx+AM4zKtL9v2ZT2Huk1ZSDkHib6Xy+YHHdBKWVd8/f3QtjOrxt/pEs/NbelT6uP9q4dp1+d7Szue+jjstBwHXNYaVDuOiaziblFwdoyuUG6PvL0DQruHcgDa6YkbKdTBSx1d8H7Y0o38AvRPR2pKzMNQAAAAASUVORK5CYII=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995" y="3317478"/>
            <a:ext cx="12060924" cy="1450756"/>
          </a:xfrm>
          <a:prstGeom prst="rect">
            <a:avLst/>
          </a:prstGeom>
        </p:spPr>
      </p:pic>
      <p:pic>
        <p:nvPicPr>
          <p:cNvPr id="9" name="Imagen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365" y="4894500"/>
            <a:ext cx="7304721" cy="1120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11078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Cifrado/Túnel de red</a:t>
            </a:r>
            <a:endParaRPr lang="en-US" dirty="0"/>
          </a:p>
        </p:txBody>
      </p:sp>
      <p:graphicFrame>
        <p:nvGraphicFramePr>
          <p:cNvPr id="13" name="Marcador de contenido 12"/>
          <p:cNvGraphicFramePr>
            <a:graphicFrameLocks noGrp="1"/>
          </p:cNvGraphicFramePr>
          <p:nvPr>
            <p:ph idx="1"/>
          </p:nvPr>
        </p:nvGraphicFramePr>
        <p:xfrm>
          <a:off x="3640198" y="2671955"/>
          <a:ext cx="3557947" cy="1828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3557947">
                  <a:extLst>
                    <a:ext uri="{9D8B030D-6E8A-4147-A177-3AD203B41FA5}">
                      <a16:colId xmlns:a16="http://schemas.microsoft.com/office/drawing/2014/main" val="394526485"/>
                    </a:ext>
                  </a:extLst>
                </a:gridCol>
              </a:tblGrid>
              <a:tr h="216769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Red</a:t>
                      </a:r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/Red, Transporte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8092468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s-ES" dirty="0"/>
                        <a:t>Transporte</a:t>
                      </a:r>
                      <a:endParaRPr lang="en-US" dirty="0"/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35877933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s-419" dirty="0"/>
                        <a:t>Red</a:t>
                      </a:r>
                      <a:endParaRPr lang="en-US" dirty="0"/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4072783371"/>
                  </a:ext>
                </a:extLst>
              </a:tr>
              <a:tr h="284599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Enlace 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3686656119"/>
                  </a:ext>
                </a:extLst>
              </a:tr>
              <a:tr h="284599"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Física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3587668112"/>
                  </a:ext>
                </a:extLst>
              </a:tr>
            </a:tbl>
          </a:graphicData>
        </a:graphic>
      </p:graphicFrame>
      <p:graphicFrame>
        <p:nvGraphicFramePr>
          <p:cNvPr id="10" name="Marcador de contenido 9"/>
          <p:cNvGraphicFramePr>
            <a:graphicFrameLocks noGrp="1"/>
          </p:cNvGraphicFramePr>
          <p:nvPr>
            <p:ph sz="half" idx="4294967295"/>
          </p:nvPr>
        </p:nvGraphicFramePr>
        <p:xfrm>
          <a:off x="0" y="2901950"/>
          <a:ext cx="18200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099">
                  <a:extLst>
                    <a:ext uri="{9D8B030D-6E8A-4147-A177-3AD203B41FA5}">
                      <a16:colId xmlns:a16="http://schemas.microsoft.com/office/drawing/2014/main" val="2483543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Usuario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2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Aplicación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3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Presentación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3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Sesión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487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Transporte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2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Red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44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Enlace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98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Física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07552"/>
                  </a:ext>
                </a:extLst>
              </a:tr>
            </a:tbl>
          </a:graphicData>
        </a:graphic>
      </p:graphicFrame>
      <p:graphicFrame>
        <p:nvGraphicFramePr>
          <p:cNvPr id="12" name="Marcador de contenido 9"/>
          <p:cNvGraphicFramePr>
            <a:graphicFrameLocks/>
          </p:cNvGraphicFramePr>
          <p:nvPr/>
        </p:nvGraphicFramePr>
        <p:xfrm>
          <a:off x="10058136" y="2902374"/>
          <a:ext cx="1820099" cy="3034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099">
                  <a:extLst>
                    <a:ext uri="{9D8B030D-6E8A-4147-A177-3AD203B41FA5}">
                      <a16:colId xmlns:a16="http://schemas.microsoft.com/office/drawing/2014/main" val="2483543813"/>
                    </a:ext>
                  </a:extLst>
                </a:gridCol>
              </a:tblGrid>
              <a:tr h="252108">
                <a:tc>
                  <a:txBody>
                    <a:bodyPr/>
                    <a:lstStyle/>
                    <a:p>
                      <a:r>
                        <a:rPr lang="es-ES" dirty="0"/>
                        <a:t>Usuario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2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Aplicación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3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Presentación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3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Sesión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487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Transporte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2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Red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44846"/>
                  </a:ext>
                </a:extLst>
              </a:tr>
              <a:tr h="443579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Enlace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98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Física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07552"/>
                  </a:ext>
                </a:extLst>
              </a:tr>
            </a:tbl>
          </a:graphicData>
        </a:graphic>
      </p:graphicFrame>
      <p:cxnSp>
        <p:nvCxnSpPr>
          <p:cNvPr id="16" name="Conector recto de flecha 15"/>
          <p:cNvCxnSpPr>
            <a:cxnSpLocks/>
          </p:cNvCxnSpPr>
          <p:nvPr/>
        </p:nvCxnSpPr>
        <p:spPr>
          <a:xfrm>
            <a:off x="1820099" y="5596161"/>
            <a:ext cx="658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>
            <a:cxnSpLocks/>
            <a:endCxn id="4" idx="2"/>
          </p:cNvCxnSpPr>
          <p:nvPr/>
        </p:nvCxnSpPr>
        <p:spPr>
          <a:xfrm>
            <a:off x="3640198" y="5586652"/>
            <a:ext cx="916379" cy="53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Marcador de contenido 5" descr="&lt;strong&gt;Router&lt;/strong&gt; – Wikipedia">
            <a:extLst>
              <a:ext uri="{FF2B5EF4-FFF2-40B4-BE49-F238E27FC236}">
                <a16:creationId xmlns:a16="http://schemas.microsoft.com/office/drawing/2014/main" id="{33CA6A96-8E1C-4948-BD36-38EFBCA675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2469783" y="5200039"/>
            <a:ext cx="1170415" cy="792244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11569957-C99D-4334-858D-198FEB1264F9}"/>
              </a:ext>
            </a:extLst>
          </p:cNvPr>
          <p:cNvSpPr/>
          <p:nvPr/>
        </p:nvSpPr>
        <p:spPr>
          <a:xfrm>
            <a:off x="4547947" y="5164026"/>
            <a:ext cx="2782339" cy="95159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15" name="Conector recto de flecha 17">
            <a:extLst>
              <a:ext uri="{FF2B5EF4-FFF2-40B4-BE49-F238E27FC236}">
                <a16:creationId xmlns:a16="http://schemas.microsoft.com/office/drawing/2014/main" id="{59E63353-C2E8-4A82-AC60-7EBE4B56696B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6733695" y="5639823"/>
            <a:ext cx="1753054" cy="34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Marcador de contenido 5" descr="&lt;strong&gt;Router&lt;/strong&gt; – Wikipedia">
            <a:extLst>
              <a:ext uri="{FF2B5EF4-FFF2-40B4-BE49-F238E27FC236}">
                <a16:creationId xmlns:a16="http://schemas.microsoft.com/office/drawing/2014/main" id="{75955A2B-B01C-4ABF-96C3-B62CA5D24D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8486749" y="5243701"/>
            <a:ext cx="1170415" cy="792244"/>
          </a:xfrm>
          <a:prstGeom prst="rect">
            <a:avLst/>
          </a:prstGeom>
        </p:spPr>
      </p:pic>
      <p:cxnSp>
        <p:nvCxnSpPr>
          <p:cNvPr id="20" name="Conector recto de flecha 17">
            <a:extLst>
              <a:ext uri="{FF2B5EF4-FFF2-40B4-BE49-F238E27FC236}">
                <a16:creationId xmlns:a16="http://schemas.microsoft.com/office/drawing/2014/main" id="{605FB12C-9C64-4B7C-A8A1-8233DD2A0D11}"/>
              </a:ext>
            </a:extLst>
          </p:cNvPr>
          <p:cNvCxnSpPr>
            <a:cxnSpLocks/>
            <a:stCxn id="19" idx="1"/>
          </p:cNvCxnSpPr>
          <p:nvPr/>
        </p:nvCxnSpPr>
        <p:spPr>
          <a:xfrm flipV="1">
            <a:off x="9657164" y="5613238"/>
            <a:ext cx="400970" cy="26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ylinder 23">
            <a:extLst>
              <a:ext uri="{FF2B5EF4-FFF2-40B4-BE49-F238E27FC236}">
                <a16:creationId xmlns:a16="http://schemas.microsoft.com/office/drawing/2014/main" id="{7547A0B4-3928-43D8-AF3E-8CC54EE85D93}"/>
              </a:ext>
            </a:extLst>
          </p:cNvPr>
          <p:cNvSpPr/>
          <p:nvPr/>
        </p:nvSpPr>
        <p:spPr>
          <a:xfrm rot="5400000">
            <a:off x="5791657" y="4252500"/>
            <a:ext cx="355777" cy="2721479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25" name="Imagen 9" descr="Computers Keys Rays Personal · Free image on Pixabay">
            <a:extLst>
              <a:ext uri="{FF2B5EF4-FFF2-40B4-BE49-F238E27FC236}">
                <a16:creationId xmlns:a16="http://schemas.microsoft.com/office/drawing/2014/main" id="{39844139-C18D-4645-93AC-A939CD44A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8892"/>
            <a:ext cx="1757950" cy="1241526"/>
          </a:xfrm>
          <a:prstGeom prst="rect">
            <a:avLst/>
          </a:prstGeom>
        </p:spPr>
      </p:pic>
      <p:pic>
        <p:nvPicPr>
          <p:cNvPr id="26" name="Imagen 9" descr="Computers Keys Rays Personal · Free image on Pixabay">
            <a:extLst>
              <a:ext uri="{FF2B5EF4-FFF2-40B4-BE49-F238E27FC236}">
                <a16:creationId xmlns:a16="http://schemas.microsoft.com/office/drawing/2014/main" id="{2B96CD6F-3D06-4AEE-B7CC-F838DD1844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705" y="1710659"/>
            <a:ext cx="1757950" cy="124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99119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097278" y="244072"/>
            <a:ext cx="10058400" cy="1450757"/>
          </a:xfrm>
        </p:spPr>
        <p:txBody>
          <a:bodyPr/>
          <a:lstStyle/>
          <a:p>
            <a:r>
              <a:rPr lang="es-ES" dirty="0"/>
              <a:t>Internet Protocol Security 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El protocolo IP no fue diseñado con seguridad en mente (ni para la cantidad de usuarios).</a:t>
            </a:r>
          </a:p>
          <a:p>
            <a:r>
              <a:rPr lang="es-ES" dirty="0"/>
              <a:t>IPSec es un agregado de la IETF para proveer confidencialidad y autenticación.</a:t>
            </a:r>
          </a:p>
          <a:p>
            <a:r>
              <a:rPr lang="es-ES" dirty="0"/>
              <a:t>Contempla el uso de cifrado en capa 3, protegiendo así las capas de arriba.</a:t>
            </a:r>
          </a:p>
          <a:p>
            <a:r>
              <a:rPr lang="es-ES" dirty="0"/>
              <a:t>Agrega varios elementos al protocolo:</a:t>
            </a:r>
          </a:p>
          <a:p>
            <a:pPr lvl="1"/>
            <a:r>
              <a:rPr lang="es-ES" dirty="0" err="1"/>
              <a:t>Encapsulated</a:t>
            </a:r>
            <a:r>
              <a:rPr lang="es-ES" dirty="0"/>
              <a:t> Security Protocol (Confidencialidad)</a:t>
            </a:r>
          </a:p>
          <a:p>
            <a:pPr lvl="1"/>
            <a:r>
              <a:rPr lang="es-ES" dirty="0" err="1"/>
              <a:t>Authentication</a:t>
            </a:r>
            <a:r>
              <a:rPr lang="es-ES" dirty="0"/>
              <a:t> </a:t>
            </a:r>
            <a:r>
              <a:rPr lang="es-ES" dirty="0" err="1"/>
              <a:t>Header</a:t>
            </a:r>
            <a:r>
              <a:rPr lang="es-ES" dirty="0"/>
              <a:t> (Autenticación e Integridad)</a:t>
            </a:r>
          </a:p>
          <a:p>
            <a:pPr lvl="1"/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045" y="1845734"/>
            <a:ext cx="4102043" cy="1954502"/>
          </a:xfr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73045" y="3857414"/>
            <a:ext cx="4109087" cy="2073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3555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IPSec modo túnel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Para proteger comunicaciones en canales inseguros.</a:t>
            </a:r>
          </a:p>
          <a:p>
            <a:r>
              <a:rPr lang="es-ES" dirty="0"/>
              <a:t>AH solo protege integridad, mientras que ESP protege la confidencialidad.</a:t>
            </a:r>
          </a:p>
          <a:p>
            <a:r>
              <a:rPr lang="es-ES" dirty="0"/>
              <a:t>Sirve para conectar dos redes de forma segura a través de un canal inseguro.  </a:t>
            </a:r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555" y="1845734"/>
            <a:ext cx="4937125" cy="1572955"/>
          </a:xfr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2993" y="3418689"/>
            <a:ext cx="4688247" cy="1528432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49800" y="4947121"/>
            <a:ext cx="3474631" cy="141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537943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IPSec Modo Transporte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s-ES" dirty="0"/>
              <a:t>Para comunicaciones punto a punto.</a:t>
            </a:r>
          </a:p>
          <a:p>
            <a:r>
              <a:rPr lang="es-ES" dirty="0"/>
              <a:t>Útil cuando se tiene algún otro protocolo de túnel, pero que no provee protección.</a:t>
            </a:r>
          </a:p>
          <a:p>
            <a:r>
              <a:rPr lang="es-ES" dirty="0"/>
              <a:t>El encabezado de IP se copia tal como esta.</a:t>
            </a:r>
          </a:p>
          <a:p>
            <a:endParaRPr lang="es-ES" dirty="0"/>
          </a:p>
          <a:p>
            <a:endParaRPr lang="en-US" dirty="0"/>
          </a:p>
        </p:txBody>
      </p:sp>
      <p:pic>
        <p:nvPicPr>
          <p:cNvPr id="5" name="Marcador de contenido 4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8423" y="1845734"/>
            <a:ext cx="4400550" cy="1733550"/>
          </a:xfrm>
        </p:spPr>
      </p:pic>
      <p:pic>
        <p:nvPicPr>
          <p:cNvPr id="6" name="Imagen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4753" y="3579284"/>
            <a:ext cx="4322321" cy="1409135"/>
          </a:xfrm>
          <a:prstGeom prst="rect">
            <a:avLst/>
          </a:prstGeom>
        </p:spPr>
      </p:pic>
      <p:pic>
        <p:nvPicPr>
          <p:cNvPr id="7" name="Imagen 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23814" y="4988419"/>
            <a:ext cx="3279702" cy="13353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02933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IPSec Security </a:t>
            </a:r>
            <a:r>
              <a:rPr lang="es-ES" dirty="0" err="1"/>
              <a:t>Association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ES" dirty="0"/>
              <a:t>La conexión de cada lado se negocia para lograr una Asociación de Seguridad (SA)</a:t>
            </a:r>
          </a:p>
          <a:p>
            <a:pPr lvl="1"/>
            <a:r>
              <a:rPr lang="es-ES" dirty="0"/>
              <a:t>Llaves</a:t>
            </a:r>
          </a:p>
          <a:p>
            <a:pPr lvl="1"/>
            <a:r>
              <a:rPr lang="es-ES" dirty="0"/>
              <a:t>Tiempo de vida de llaves</a:t>
            </a:r>
          </a:p>
          <a:p>
            <a:pPr lvl="1"/>
            <a:r>
              <a:rPr lang="es-ES" dirty="0"/>
              <a:t>Protocolos criptográficos (HMAC-SHA1 para AH, 3DES/AES para ESP)</a:t>
            </a:r>
          </a:p>
          <a:p>
            <a:pPr lvl="1"/>
            <a:r>
              <a:rPr lang="es-ES" dirty="0"/>
              <a:t>Modo a usar</a:t>
            </a:r>
          </a:p>
          <a:p>
            <a:pPr lvl="1"/>
            <a:r>
              <a:rPr lang="es-ES" dirty="0"/>
              <a:t>Direcciones de los involucrados.</a:t>
            </a:r>
          </a:p>
          <a:p>
            <a:r>
              <a:rPr lang="es-ES" dirty="0"/>
              <a:t>Internet Security Association Key Management Protocol (ISAKMP): Indica como se van a manejar las llaves y los parámetros de la SA.</a:t>
            </a:r>
          </a:p>
          <a:p>
            <a:r>
              <a:rPr lang="es-ES" dirty="0"/>
              <a:t>ISAKMP Key Exchange (IKE): Intercambio de llaves y establecimiento de la sesión</a:t>
            </a:r>
          </a:p>
        </p:txBody>
      </p:sp>
      <p:pic>
        <p:nvPicPr>
          <p:cNvPr id="5" name="Marcador de contenido 4" descr="IPSEC VPN Client Setup - net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2475506"/>
            <a:ext cx="4937125" cy="2764239"/>
          </a:xfrm>
        </p:spPr>
      </p:pic>
    </p:spTree>
    <p:extLst>
      <p:ext uri="{BB962C8B-B14F-4D97-AF65-F5344CB8AC3E}">
        <p14:creationId xmlns:p14="http://schemas.microsoft.com/office/powerpoint/2010/main" val="28003047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611FB-AE81-4479-8814-878F106F1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Protocolos de VPN capa 3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E3A63C-C0AC-4CE6-B9BB-5C05655F3D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/>
              <a:t>VPN </a:t>
            </a:r>
            <a:r>
              <a:rPr lang="es-419" dirty="0" err="1"/>
              <a:t>Connect</a:t>
            </a:r>
            <a:r>
              <a:rPr lang="es-419" dirty="0"/>
              <a:t> (IKEv2)</a:t>
            </a:r>
          </a:p>
          <a:p>
            <a:r>
              <a:rPr lang="es-419" dirty="0"/>
              <a:t>IPSEC</a:t>
            </a:r>
          </a:p>
          <a:p>
            <a:r>
              <a:rPr lang="es-419" dirty="0"/>
              <a:t>L2TP/IPSEC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030549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Cifrado de capas superiores</a:t>
            </a:r>
            <a:endParaRPr lang="en-US" dirty="0"/>
          </a:p>
        </p:txBody>
      </p:sp>
      <p:graphicFrame>
        <p:nvGraphicFramePr>
          <p:cNvPr id="13" name="Marcador de contenido 12"/>
          <p:cNvGraphicFramePr>
            <a:graphicFrameLocks noGrp="1"/>
          </p:cNvGraphicFramePr>
          <p:nvPr>
            <p:ph idx="1"/>
          </p:nvPr>
        </p:nvGraphicFramePr>
        <p:xfrm>
          <a:off x="3511825" y="2671955"/>
          <a:ext cx="4678017" cy="182880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4678017">
                  <a:extLst>
                    <a:ext uri="{9D8B030D-6E8A-4147-A177-3AD203B41FA5}">
                      <a16:colId xmlns:a16="http://schemas.microsoft.com/office/drawing/2014/main" val="394526485"/>
                    </a:ext>
                  </a:extLst>
                </a:gridCol>
              </a:tblGrid>
              <a:tr h="216769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Sesión/Presentación/Aplicación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809246834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s-ES" dirty="0"/>
                        <a:t>Transporte</a:t>
                      </a:r>
                      <a:endParaRPr lang="en-US" dirty="0"/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3587793301"/>
                  </a:ext>
                </a:extLst>
              </a:tr>
              <a:tr h="182880">
                <a:tc>
                  <a:txBody>
                    <a:bodyPr/>
                    <a:lstStyle/>
                    <a:p>
                      <a:r>
                        <a:rPr lang="es-419" dirty="0"/>
                        <a:t>Red</a:t>
                      </a:r>
                      <a:endParaRPr lang="en-US" dirty="0"/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4072783371"/>
                  </a:ext>
                </a:extLst>
              </a:tr>
              <a:tr h="284599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Enlace 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3686656119"/>
                  </a:ext>
                </a:extLst>
              </a:tr>
              <a:tr h="284599">
                <a:tc>
                  <a:txBody>
                    <a:bodyPr/>
                    <a:lstStyle/>
                    <a:p>
                      <a:r>
                        <a:rPr lang="es-419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Física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 marL="619640" marR="619640"/>
                </a:tc>
                <a:extLst>
                  <a:ext uri="{0D108BD9-81ED-4DB2-BD59-A6C34878D82A}">
                    <a16:rowId xmlns:a16="http://schemas.microsoft.com/office/drawing/2014/main" val="3587668112"/>
                  </a:ext>
                </a:extLst>
              </a:tr>
            </a:tbl>
          </a:graphicData>
        </a:graphic>
      </p:graphicFrame>
      <p:graphicFrame>
        <p:nvGraphicFramePr>
          <p:cNvPr id="10" name="Marcador de contenido 9"/>
          <p:cNvGraphicFramePr>
            <a:graphicFrameLocks noGrp="1"/>
          </p:cNvGraphicFramePr>
          <p:nvPr>
            <p:ph sz="half" idx="4294967295"/>
          </p:nvPr>
        </p:nvGraphicFramePr>
        <p:xfrm>
          <a:off x="0" y="2901950"/>
          <a:ext cx="1820099" cy="2966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099">
                  <a:extLst>
                    <a:ext uri="{9D8B030D-6E8A-4147-A177-3AD203B41FA5}">
                      <a16:colId xmlns:a16="http://schemas.microsoft.com/office/drawing/2014/main" val="24835438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s-ES" dirty="0"/>
                        <a:t>Usuario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2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Aplicación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3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Presentación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3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Sesión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487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Transporte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2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Red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44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Enlace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98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Física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07552"/>
                  </a:ext>
                </a:extLst>
              </a:tr>
            </a:tbl>
          </a:graphicData>
        </a:graphic>
      </p:graphicFrame>
      <p:graphicFrame>
        <p:nvGraphicFramePr>
          <p:cNvPr id="12" name="Marcador de contenido 9"/>
          <p:cNvGraphicFramePr>
            <a:graphicFrameLocks/>
          </p:cNvGraphicFramePr>
          <p:nvPr/>
        </p:nvGraphicFramePr>
        <p:xfrm>
          <a:off x="10058136" y="2902374"/>
          <a:ext cx="1820099" cy="30343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0099">
                  <a:extLst>
                    <a:ext uri="{9D8B030D-6E8A-4147-A177-3AD203B41FA5}">
                      <a16:colId xmlns:a16="http://schemas.microsoft.com/office/drawing/2014/main" val="2483543813"/>
                    </a:ext>
                  </a:extLst>
                </a:gridCol>
              </a:tblGrid>
              <a:tr h="252108">
                <a:tc>
                  <a:txBody>
                    <a:bodyPr/>
                    <a:lstStyle/>
                    <a:p>
                      <a:r>
                        <a:rPr lang="es-ES" dirty="0"/>
                        <a:t>Usuario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18200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Aplicación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55330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Presentación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583356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rgbClr val="FF0000"/>
                          </a:solidFill>
                        </a:rPr>
                        <a:t>Sesión</a:t>
                      </a:r>
                      <a:endParaRPr lang="en-US" dirty="0">
                        <a:solidFill>
                          <a:srgbClr val="FF0000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64879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Transporte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8947271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Red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1244846"/>
                  </a:ext>
                </a:extLst>
              </a:tr>
              <a:tr h="443579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/>
                          </a:solidFill>
                        </a:rPr>
                        <a:t>Enlace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549819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s-ES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Física</a:t>
                      </a:r>
                      <a:endParaRPr lang="en-US" dirty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62807552"/>
                  </a:ext>
                </a:extLst>
              </a:tr>
            </a:tbl>
          </a:graphicData>
        </a:graphic>
      </p:graphicFrame>
      <p:cxnSp>
        <p:nvCxnSpPr>
          <p:cNvPr id="16" name="Conector recto de flecha 15"/>
          <p:cNvCxnSpPr>
            <a:cxnSpLocks/>
          </p:cNvCxnSpPr>
          <p:nvPr/>
        </p:nvCxnSpPr>
        <p:spPr>
          <a:xfrm>
            <a:off x="1820099" y="5596161"/>
            <a:ext cx="65805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recto de flecha 17"/>
          <p:cNvCxnSpPr>
            <a:cxnSpLocks/>
            <a:endCxn id="4" idx="2"/>
          </p:cNvCxnSpPr>
          <p:nvPr/>
        </p:nvCxnSpPr>
        <p:spPr>
          <a:xfrm>
            <a:off x="3640198" y="5586652"/>
            <a:ext cx="916379" cy="531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Marcador de contenido 5" descr="&lt;strong&gt;Router&lt;/strong&gt; – Wikipedia">
            <a:extLst>
              <a:ext uri="{FF2B5EF4-FFF2-40B4-BE49-F238E27FC236}">
                <a16:creationId xmlns:a16="http://schemas.microsoft.com/office/drawing/2014/main" id="{33CA6A96-8E1C-4948-BD36-38EFBCA675A5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2469783" y="5200039"/>
            <a:ext cx="1170415" cy="792244"/>
          </a:xfrm>
          <a:prstGeom prst="rect">
            <a:avLst/>
          </a:prstGeom>
        </p:spPr>
      </p:pic>
      <p:sp>
        <p:nvSpPr>
          <p:cNvPr id="4" name="Cloud 3">
            <a:extLst>
              <a:ext uri="{FF2B5EF4-FFF2-40B4-BE49-F238E27FC236}">
                <a16:creationId xmlns:a16="http://schemas.microsoft.com/office/drawing/2014/main" id="{11569957-C99D-4334-858D-198FEB1264F9}"/>
              </a:ext>
            </a:extLst>
          </p:cNvPr>
          <p:cNvSpPr/>
          <p:nvPr/>
        </p:nvSpPr>
        <p:spPr>
          <a:xfrm>
            <a:off x="4547947" y="5164026"/>
            <a:ext cx="2782339" cy="951595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" name="Conector recto de flecha 17">
            <a:extLst>
              <a:ext uri="{FF2B5EF4-FFF2-40B4-BE49-F238E27FC236}">
                <a16:creationId xmlns:a16="http://schemas.microsoft.com/office/drawing/2014/main" id="{59E63353-C2E8-4A82-AC60-7EBE4B56696B}"/>
              </a:ext>
            </a:extLst>
          </p:cNvPr>
          <p:cNvCxnSpPr>
            <a:cxnSpLocks/>
            <a:endCxn id="19" idx="3"/>
          </p:cNvCxnSpPr>
          <p:nvPr/>
        </p:nvCxnSpPr>
        <p:spPr>
          <a:xfrm flipV="1">
            <a:off x="6733695" y="5639823"/>
            <a:ext cx="1753054" cy="341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9" name="Marcador de contenido 5" descr="&lt;strong&gt;Router&lt;/strong&gt; – Wikipedia">
            <a:extLst>
              <a:ext uri="{FF2B5EF4-FFF2-40B4-BE49-F238E27FC236}">
                <a16:creationId xmlns:a16="http://schemas.microsoft.com/office/drawing/2014/main" id="{75955A2B-B01C-4ABF-96C3-B62CA5D24DF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 flipV="1">
            <a:off x="8486749" y="5243701"/>
            <a:ext cx="1170415" cy="792244"/>
          </a:xfrm>
          <a:prstGeom prst="rect">
            <a:avLst/>
          </a:prstGeom>
        </p:spPr>
      </p:pic>
      <p:cxnSp>
        <p:nvCxnSpPr>
          <p:cNvPr id="20" name="Conector recto de flecha 17">
            <a:extLst>
              <a:ext uri="{FF2B5EF4-FFF2-40B4-BE49-F238E27FC236}">
                <a16:creationId xmlns:a16="http://schemas.microsoft.com/office/drawing/2014/main" id="{605FB12C-9C64-4B7C-A8A1-8233DD2A0D11}"/>
              </a:ext>
            </a:extLst>
          </p:cNvPr>
          <p:cNvCxnSpPr>
            <a:cxnSpLocks/>
            <a:stCxn id="19" idx="1"/>
          </p:cNvCxnSpPr>
          <p:nvPr/>
        </p:nvCxnSpPr>
        <p:spPr>
          <a:xfrm flipV="1">
            <a:off x="9657164" y="5613238"/>
            <a:ext cx="400970" cy="265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Cylinder 23">
            <a:extLst>
              <a:ext uri="{FF2B5EF4-FFF2-40B4-BE49-F238E27FC236}">
                <a16:creationId xmlns:a16="http://schemas.microsoft.com/office/drawing/2014/main" id="{7547A0B4-3928-43D8-AF3E-8CC54EE85D93}"/>
              </a:ext>
            </a:extLst>
          </p:cNvPr>
          <p:cNvSpPr/>
          <p:nvPr/>
        </p:nvSpPr>
        <p:spPr>
          <a:xfrm rot="5400000">
            <a:off x="5791657" y="4252500"/>
            <a:ext cx="355777" cy="2721479"/>
          </a:xfrm>
          <a:prstGeom prst="can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5" name="Imagen 9" descr="Computers Keys Rays Personal · Free image on Pixabay">
            <a:extLst>
              <a:ext uri="{FF2B5EF4-FFF2-40B4-BE49-F238E27FC236}">
                <a16:creationId xmlns:a16="http://schemas.microsoft.com/office/drawing/2014/main" id="{39844139-C18D-4645-93AC-A939CD44A03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98892"/>
            <a:ext cx="1757950" cy="1241526"/>
          </a:xfrm>
          <a:prstGeom prst="rect">
            <a:avLst/>
          </a:prstGeom>
        </p:spPr>
      </p:pic>
      <p:pic>
        <p:nvPicPr>
          <p:cNvPr id="26" name="Imagen 9" descr="Computers Keys Rays Personal · Free image on Pixabay">
            <a:extLst>
              <a:ext uri="{FF2B5EF4-FFF2-40B4-BE49-F238E27FC236}">
                <a16:creationId xmlns:a16="http://schemas.microsoft.com/office/drawing/2014/main" id="{2B96CD6F-3D06-4AEE-B7CC-F838DD1844E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705" y="1710659"/>
            <a:ext cx="1757950" cy="12415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5909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Secure Socket Layer/Transport Layer Security</a:t>
            </a:r>
            <a:endParaRPr lang="en-US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s-ES" dirty="0"/>
              <a:t>Originalmente creado por Netscape para agregar seguridad al protocolo HTTP en 1996</a:t>
            </a:r>
          </a:p>
          <a:p>
            <a:r>
              <a:rPr lang="es-ES" dirty="0"/>
              <a:t>Después fue adoptado como RFC en SSL, pero se encontró que tenía vulnerabilidades.</a:t>
            </a:r>
          </a:p>
          <a:p>
            <a:r>
              <a:rPr lang="es-ES" dirty="0"/>
              <a:t>TLS fue creado basado en SSL 3.0.</a:t>
            </a:r>
          </a:p>
          <a:p>
            <a:r>
              <a:rPr lang="es-ES" dirty="0"/>
              <a:t>Utiliza certificados para autenticación y cifrado.</a:t>
            </a:r>
          </a:p>
          <a:p>
            <a:r>
              <a:rPr lang="es-ES" dirty="0"/>
              <a:t>Permite usar diferentes algoritmos como RSA y SHA256 para MAC. </a:t>
            </a:r>
          </a:p>
          <a:p>
            <a:r>
              <a:rPr lang="es-ES" dirty="0"/>
              <a:t>El cliente y el servidor se ponen de acuerdo para usar la seguridad más alta que puedan.</a:t>
            </a:r>
            <a:endParaRPr lang="en-US" dirty="0"/>
          </a:p>
        </p:txBody>
      </p:sp>
      <p:pic>
        <p:nvPicPr>
          <p:cNvPr id="5" name="Marcador de contenido 4" descr="CDN &amp; &lt;strong&gt;SSL&lt;/strong&gt;/TLS | Faster Stronger Handshake | CDN Guide ...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18238" y="1958731"/>
            <a:ext cx="4937125" cy="3797788"/>
          </a:xfrm>
        </p:spPr>
      </p:pic>
    </p:spTree>
    <p:extLst>
      <p:ext uri="{BB962C8B-B14F-4D97-AF65-F5344CB8AC3E}">
        <p14:creationId xmlns:p14="http://schemas.microsoft.com/office/powerpoint/2010/main" val="3680374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0FF6FC-D5F9-4EB4-8567-98374E43B6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419" dirty="0"/>
              <a:t>Protocolos de cifrado de capas superiores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817B45-9A79-4D5F-8E73-0DC388AB0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419" dirty="0" err="1"/>
              <a:t>Secure</a:t>
            </a:r>
            <a:r>
              <a:rPr lang="es-419" dirty="0"/>
              <a:t> Socket </a:t>
            </a:r>
            <a:r>
              <a:rPr lang="es-419" dirty="0" err="1"/>
              <a:t>Tunneling</a:t>
            </a:r>
            <a:r>
              <a:rPr lang="es-419" dirty="0"/>
              <a:t> </a:t>
            </a:r>
            <a:r>
              <a:rPr lang="es-419" dirty="0" err="1"/>
              <a:t>Protocol</a:t>
            </a:r>
            <a:endParaRPr lang="es-419" dirty="0"/>
          </a:p>
          <a:p>
            <a:r>
              <a:rPr lang="es-419" dirty="0"/>
              <a:t>Open VPN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21132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485</Words>
  <Application>Microsoft Macintosh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Aptos</vt:lpstr>
      <vt:lpstr>Aptos Display</vt:lpstr>
      <vt:lpstr>Arial</vt:lpstr>
      <vt:lpstr>Office Theme</vt:lpstr>
      <vt:lpstr>VPN-Extra</vt:lpstr>
      <vt:lpstr>Redes virtuales privadas</vt:lpstr>
      <vt:lpstr>Cifrado/Túnel de enlace</vt:lpstr>
      <vt:lpstr>Protocolos de VPN capa 2</vt:lpstr>
      <vt:lpstr>Cifrado/Túnel de red</vt:lpstr>
      <vt:lpstr>Internet Protocol Security </vt:lpstr>
      <vt:lpstr>IPSec modo túnel</vt:lpstr>
      <vt:lpstr>IPSec Modo Transporte</vt:lpstr>
      <vt:lpstr>IPSec Security Association</vt:lpstr>
      <vt:lpstr>Protocolos de VPN capa 3</vt:lpstr>
      <vt:lpstr>Cifrado de capas superiores</vt:lpstr>
      <vt:lpstr>Secure Socket Layer/Transport Layer Security</vt:lpstr>
      <vt:lpstr>Protocolos de cifrado de capas superiores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Jorge Rodríguez Ruiz</dc:creator>
  <cp:lastModifiedBy>Jorge Rodríguez Ruiz</cp:lastModifiedBy>
  <cp:revision>1</cp:revision>
  <dcterms:created xsi:type="dcterms:W3CDTF">2026-05-12T02:16:08Z</dcterms:created>
  <dcterms:modified xsi:type="dcterms:W3CDTF">2026-05-12T02:16:46Z</dcterms:modified>
</cp:coreProperties>
</file>